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512" r:id="rId2"/>
    <p:sldId id="513" r:id="rId3"/>
    <p:sldId id="514" r:id="rId4"/>
    <p:sldId id="515" r:id="rId5"/>
    <p:sldId id="516" r:id="rId6"/>
    <p:sldId id="517" r:id="rId7"/>
    <p:sldId id="518" r:id="rId8"/>
    <p:sldId id="519" r:id="rId9"/>
    <p:sldId id="520" r:id="rId10"/>
    <p:sldId id="532" r:id="rId11"/>
    <p:sldId id="521" r:id="rId12"/>
    <p:sldId id="522" r:id="rId13"/>
    <p:sldId id="523" r:id="rId14"/>
    <p:sldId id="524" r:id="rId15"/>
    <p:sldId id="525" r:id="rId16"/>
    <p:sldId id="526" r:id="rId17"/>
    <p:sldId id="527" r:id="rId18"/>
    <p:sldId id="531" r:id="rId19"/>
    <p:sldId id="528" r:id="rId20"/>
    <p:sldId id="533" r:id="rId21"/>
    <p:sldId id="534" r:id="rId22"/>
    <p:sldId id="535" r:id="rId23"/>
    <p:sldId id="536" r:id="rId24"/>
    <p:sldId id="537" r:id="rId25"/>
    <p:sldId id="52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161"/>
    <a:srgbClr val="0000FF"/>
    <a:srgbClr val="FCEAEA"/>
    <a:srgbClr val="F7C1C1"/>
    <a:srgbClr val="FFB9B9"/>
    <a:srgbClr val="FF6565"/>
    <a:srgbClr val="FF9F9F"/>
    <a:srgbClr val="D2F9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EE8FDE-0017-DCF9-4C5D-A5A25654F3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FFFEA-6892-D0A1-1ABD-3AF7B00300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DB395-A617-4DE4-A7DC-BAC87B0F3090}" type="datetimeFigureOut">
              <a:rPr lang="en-HK" smtClean="0"/>
              <a:t>21/5/2026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849F7-5867-F7B9-DEC3-40E52D03F7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HK"/>
              <a:t>For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8CB0F-70C9-B5CD-B6AB-36C4200B6D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E16F4-44C7-4A8A-B5D9-5D21CDA3A95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5230249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7T08:11:56.7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1,'64'3,"91"15,-28-2,804 3,-599-22,1000 3,-1094 14,-14 0,422-17,215 6,-497 22,-7 0,212-23,-38 0,-3 36,-148-17,-139-13,226 2,-436-10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7T08:11:58.6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43,'1168'0,"-1157"-1,0 0,1 0,-1-1,0-1,-1 0,1-1,0 0,-1 0,12-8,-7 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7T08:12:07.8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1,'2119'0,"-2097"0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8:12:17.7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0,'13864'238'0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1968A-2AFF-439E-9F16-AD728CBBAECC}" type="datetimeFigureOut">
              <a:rPr lang="en-HK" smtClean="0"/>
              <a:t>21/5/2026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HK"/>
              <a:t>For Internal Use Only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0C137-BF01-4995-9F36-8A92F61EFF7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2637330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it-IT" altLang="en-US"/>
          </a:p>
        </p:txBody>
      </p:sp>
      <p:sp>
        <p:nvSpPr>
          <p:cNvPr id="77828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AC80EF0-22F2-4CEE-A712-BD1B206AEC3B}" type="slidenum">
              <a:rPr lang="en-US" altLang="en-US" sz="1100"/>
              <a:pPr eaLnBrk="1" hangingPunct="1">
                <a:spcBef>
                  <a:spcPct val="0"/>
                </a:spcBef>
              </a:pPr>
              <a:t>1</a:t>
            </a:fld>
            <a:endParaRPr lang="en-US" altLang="en-US" sz="11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73E0DE-A4BB-21EC-3EC2-730E1D312F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3510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26251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46297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35293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58494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56847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627701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79335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01550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D666-EA91-30DA-569F-1FB66F046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CCAFD-26E1-855E-8CD8-D4C83A837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3CB08-3BE0-86B5-CE2B-74CA1CD4B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85B2B-6BD8-61A6-F870-1AF1E3B39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46336-0DFF-9AA5-6DA9-95FCB0608A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91728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871343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766266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86471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08917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04636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95122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12824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E9EB0-95BB-6EB9-C5D8-790C2EE0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669F0-D23A-1FAD-3FE3-623151BD4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608F9-FCEC-BF39-6384-31AE513C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17545-36DC-8E8A-28D1-A5743128C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281CA-EF65-115B-6019-05F66A840E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86060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213309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9FB6A-0C80-3A45-1F06-DAF79DE2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6BA3D-28AE-A922-9585-BF5FEA5C1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8D18C-5685-7F08-CD01-76E0C7EE9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41BDD-A6BF-66F5-B435-6D63CE5DC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E0B02-4989-DEC0-BE84-DAFE90F4AE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459607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4B2C7-9403-3C9A-B0E4-7F33E069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0F064-AB4D-D080-6735-DA52CB81C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1DAE5-1ABD-F806-F202-4E6A71488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8F70E-F688-0049-AF06-B8F06792F4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1B3B0-3D5E-93B3-F353-5147C1EA8C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6921298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7C7DB-FFFB-A894-2328-0B13317D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63D8E-5E7D-01F2-6D52-7FAADD131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79662-3238-756B-53B4-B2F2CC6C0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6F689-16D7-D3C8-AC58-B6FF992136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EB92A-8828-1738-D2DD-B12ED58B55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559513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31B7-77B2-99E6-98DF-8BCB9B4B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EA21A-9BEF-CC4D-065F-67D7BB977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A8355-78CB-CF07-DB9C-A1ABE5FDF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4EBBE-3C99-9B33-3119-31AD0C2FAF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7CD5E-2443-084B-08C8-152E95CAF2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961376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4F96-A44A-15B2-F1AA-B1D7F50E5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4DC59-2FF2-1A70-E575-11DE83707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0CE52-33BA-8E9B-83D7-1A75748A0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AD076-6E66-0005-9FE0-81CDCE2AB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A4D82-9E21-AB15-CCC8-30C3582213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070479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B5CEE-18D0-4C43-80C3-FD2316690391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FE57-4291-E61F-B4E5-DC8ABE2FFB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148410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image" Target="../media/image1.emf"/><Relationship Id="rId4" Type="http://schemas.openxmlformats.org/officeDocument/2006/relationships/image" Target="NUL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5751-F06D-4041-AAF3-710DF75C0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128D7-F2A2-4192-B5A9-390522EB1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7FD19-1B19-4155-96EE-251E8666C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311BE-397D-475D-8D68-6AF689CCB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77F9-EB63-443D-924A-13F3B28F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485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0828D-7D1E-4C3A-9C29-4B22180DC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D379-03C4-414F-8BDD-FC05D4980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A84C-BF09-47BF-AA26-310F06A77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6D819-A836-4D7C-B99B-D34CAB9D2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B9DAD-F2BF-4AD3-AE62-C2E2006C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81106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42D8-8FB1-4C23-87AC-EF55D35DB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BE0F-1070-4F4D-94CD-93F14C080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23155-FA0C-4A8C-9351-B1DF2907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4D412-55A1-495D-9D2F-D5D416C3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3B4C1-6F21-4C64-ADA2-2487D13F2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59754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C013-C8A1-4835-A7DB-78B41709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C43F6-2DBB-47A1-AF00-2FDDA1337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8C9E5-AD68-478E-8709-6E8FA4FF6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7E855-2F24-478C-B056-4DE879CD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9555A-1504-42D7-8B36-CB20E4E75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63C7F-6A44-4EE6-B64C-117F5142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416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46DD-66C3-4C62-8DE5-FF9D6F56D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C5C60-2B81-4E5F-8E7C-B690545CC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C398B-9E29-47D0-B2D8-B7534249B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619D5-EC89-4330-AE3B-916CD0FB5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29C29-9F84-4C6D-BF77-D5E0EC8B2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D7361-26E4-469A-A4FE-4FA6B909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D998B-6851-4169-95E9-D7FE71365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EBF55D-38AB-48AB-A4B5-8E145C4A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0762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9356-B25A-4AFD-B478-721E94DA6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CF1C8-F170-4DD6-AAB1-E4865BE6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DD500-E8D2-4F9E-BADE-821E7DE9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73038-A8CB-416A-AC5F-67C94E2E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7627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FB6418-2E44-421C-B3B1-4E2C742E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D407F-93A2-4B92-A08B-9FF91789C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FCC0A-8C57-48F9-9F34-8EC61715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2335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856F-EBBC-4499-ACD5-F3326C3D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97716-9E73-4E4A-9740-BA234D236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1BDE7-7E46-4C20-8A35-F733F80DD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47AA0-05B9-4751-80C6-F1707353A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6DF62-FB6F-45A9-842D-28B51A71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65E61-B092-4B4A-8153-B2EEFBC5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3984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1981-33D0-4064-AF5C-DA8B0D8B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088C97-E6C7-4430-B83B-3BF7D24E2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02658-C5E5-4FD7-B76D-6959F0DB4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34311-834A-46C8-B839-D68DEF5E5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8AC91-D089-441E-898E-9280F6E6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8C463-0A6C-4726-9E59-B2EC5F4C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6035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BC8B-122A-4648-9A83-C177BCFD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178D1-85E5-4C72-9F90-44DE087C3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B5BF-97C9-4295-A57E-CA217720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6E025-8115-4575-AFD4-51E549ED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E140E-6D74-4DDC-BC86-FB147C72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5606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AED1E-F970-483A-B0B2-FF70FA050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53B51-D236-4EEB-8608-1AE72B1F7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8C0F9-EC7F-4B3D-96A7-B5719E98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57ECF-A351-427F-ACC5-64A22822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HK"/>
              <a:t>For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2F2A8-0D67-41DB-99E4-5D8D6A00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21480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2130426"/>
            <a:ext cx="11182248" cy="869098"/>
          </a:xfrm>
        </p:spPr>
        <p:txBody>
          <a:bodyPr/>
          <a:lstStyle>
            <a:lvl1pPr>
              <a:lnSpc>
                <a:spcPts val="3500"/>
              </a:lnSpc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Presentation Title</a:t>
            </a:r>
            <a:br>
              <a:rPr lang="it-IT" dirty="0"/>
            </a:br>
            <a:r>
              <a:rPr lang="it-IT" dirty="0" err="1"/>
              <a:t>Arial</a:t>
            </a:r>
            <a:r>
              <a:rPr lang="it-IT" dirty="0"/>
              <a:t> </a:t>
            </a:r>
            <a:r>
              <a:rPr lang="it-IT" dirty="0" err="1"/>
              <a:t>Bold</a:t>
            </a:r>
            <a:r>
              <a:rPr lang="it-IT" dirty="0"/>
              <a:t> 33/35pt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3105307"/>
            <a:ext cx="11182248" cy="71226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0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Presentation </a:t>
            </a:r>
            <a:r>
              <a:rPr lang="it-IT" dirty="0" err="1"/>
              <a:t>Subtitle</a:t>
            </a:r>
            <a:br>
              <a:rPr lang="it-IT" dirty="0"/>
            </a:br>
            <a:r>
              <a:rPr lang="it-IT" dirty="0" err="1"/>
              <a:t>Arial</a:t>
            </a:r>
            <a:r>
              <a:rPr lang="it-IT" dirty="0"/>
              <a:t> Regular 20/24pt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379BE-8B17-4A77-8F6E-0F06E33068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1050"/>
          <a:stretch/>
        </p:blipFill>
        <p:spPr>
          <a:xfrm>
            <a:off x="1" y="0"/>
            <a:ext cx="267377" cy="6858000"/>
          </a:xfrm>
          <a:prstGeom prst="rect">
            <a:avLst/>
          </a:prstGeom>
        </p:spPr>
      </p:pic>
      <p:pic>
        <p:nvPicPr>
          <p:cNvPr id="7" name="Immagine 11">
            <a:extLst>
              <a:ext uri="{FF2B5EF4-FFF2-40B4-BE49-F238E27FC236}">
                <a16:creationId xmlns:a16="http://schemas.microsoft.com/office/drawing/2014/main" id="{D8DA1E32-BABB-4B8E-91E4-31CE6B1BF0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3067" y="287166"/>
            <a:ext cx="1152000" cy="703434"/>
          </a:xfrm>
          <a:prstGeom prst="rect">
            <a:avLst/>
          </a:prstGeom>
        </p:spPr>
      </p:pic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3A1ED84B-9AAE-49AC-9245-1B8310BE757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5181600" y="6553200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00" baseline="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For internal use only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27393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Text: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8413215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6" y="273559"/>
            <a:ext cx="266889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‹#›</a:t>
            </a:fld>
            <a:endParaRPr lang="it-IT" dirty="0">
              <a:solidFill>
                <a:srgbClr val="BD2027"/>
              </a:solidFill>
            </a:endParaRPr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396834"/>
            <a:ext cx="11182248" cy="374461"/>
          </a:xfrm>
        </p:spPr>
        <p:txBody>
          <a:bodyPr>
            <a:spAutoFit/>
          </a:bodyPr>
          <a:lstStyle>
            <a:lvl1pPr>
              <a:lnSpc>
                <a:spcPts val="22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Slide Title</a:t>
            </a:r>
          </a:p>
        </p:txBody>
      </p:sp>
      <p:sp>
        <p:nvSpPr>
          <p:cNvPr id="15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751762"/>
            <a:ext cx="11182248" cy="290712"/>
          </a:xfrm>
        </p:spPr>
        <p:txBody>
          <a:bodyPr lIns="0" tIns="36000" rIns="0" bIns="36000">
            <a:sp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Slide </a:t>
            </a:r>
            <a:r>
              <a:rPr lang="it-IT" dirty="0" err="1"/>
              <a:t>Subtitle</a:t>
            </a:r>
            <a:endParaRPr lang="it-IT" dirty="0"/>
          </a:p>
        </p:txBody>
      </p:sp>
      <p:sp>
        <p:nvSpPr>
          <p:cNvPr id="19" name="Segnaposto testo 18"/>
          <p:cNvSpPr>
            <a:spLocks noGrp="1"/>
          </p:cNvSpPr>
          <p:nvPr>
            <p:ph type="body" sz="quarter" idx="14"/>
          </p:nvPr>
        </p:nvSpPr>
        <p:spPr>
          <a:xfrm>
            <a:off x="463551" y="1682751"/>
            <a:ext cx="11188700" cy="43783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18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 err="1"/>
              <a:t>Section</a:t>
            </a:r>
            <a:r>
              <a:rPr lang="it-IT" dirty="0"/>
              <a:t> 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A25BC1-2964-4991-94EF-9BAB04F206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pic>
        <p:nvPicPr>
          <p:cNvPr id="11" name="Immagine 12">
            <a:extLst>
              <a:ext uri="{FF2B5EF4-FFF2-40B4-BE49-F238E27FC236}">
                <a16:creationId xmlns:a16="http://schemas.microsoft.com/office/drawing/2014/main" id="{DEF6048F-91DB-435C-A1B4-D67FF80E09B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52941" y="6216113"/>
            <a:ext cx="592375" cy="360000"/>
          </a:xfrm>
          <a:prstGeom prst="rect">
            <a:avLst/>
          </a:prstGeom>
        </p:spPr>
      </p:pic>
      <p:sp>
        <p:nvSpPr>
          <p:cNvPr id="12" name="Segnaposto piè di pagina 4">
            <a:extLst>
              <a:ext uri="{FF2B5EF4-FFF2-40B4-BE49-F238E27FC236}">
                <a16:creationId xmlns:a16="http://schemas.microsoft.com/office/drawing/2014/main" id="{913EF6F7-06DE-444C-B3AC-8FDCFDEBB91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0" y="6594747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00" baseline="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For internal use only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845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A3EE68-5681-4E93-88E5-7201ED8B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C94C5-6BB2-4225-8C80-7BD605313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A6633-9511-457D-AEE0-68BAEF960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7F36B-B75A-40B9-9842-93709734E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HK"/>
              <a:t>For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E3233-7156-4B60-9DF1-FBFE6FFA0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36261-B9C9-4B0F-B26B-C391443194D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66209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emf"/><Relationship Id="rId5" Type="http://schemas.openxmlformats.org/officeDocument/2006/relationships/oleObject" Target="file:///C:\Users\keith.law\Documents\Keith%20Law\UW%20Department\Project\CS%20Training\May%202026%20CS%20Training\Material\Product%20mapping%20for%20broker's%20version%20FNA_May%202026%20(Added%20Premium%20Financing%20product).xlsx" TargetMode="Externa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9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image" Target="../media/image48.png"/><Relationship Id="rId7" Type="http://schemas.openxmlformats.org/officeDocument/2006/relationships/customXml" Target="../ink/ink2.xml"/><Relationship Id="rId12" Type="http://schemas.openxmlformats.org/officeDocument/2006/relationships/image" Target="../media/image4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410.png"/><Relationship Id="rId4" Type="http://schemas.openxmlformats.org/officeDocument/2006/relationships/image" Target="../media/image49.png"/><Relationship Id="rId9" Type="http://schemas.openxmlformats.org/officeDocument/2006/relationships/customXml" Target="../ink/ink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2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11" Type="http://schemas.openxmlformats.org/officeDocument/2006/relationships/image" Target="../media/image70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8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4.png"/><Relationship Id="rId11" Type="http://schemas.openxmlformats.org/officeDocument/2006/relationships/image" Target="../media/image76.png"/><Relationship Id="rId5" Type="http://schemas.openxmlformats.org/officeDocument/2006/relationships/image" Target="../media/image63.png"/><Relationship Id="rId10" Type="http://schemas.openxmlformats.org/officeDocument/2006/relationships/image" Target="../media/image75.png"/><Relationship Id="rId4" Type="http://schemas.openxmlformats.org/officeDocument/2006/relationships/image" Target="../media/image62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 txBox="1">
            <a:spLocks/>
          </p:cNvSpPr>
          <p:nvPr/>
        </p:nvSpPr>
        <p:spPr>
          <a:xfrm>
            <a:off x="10064496" y="273559"/>
            <a:ext cx="349062" cy="178318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465A074-71B0-1C47-A455-7677837C124E}" type="slidenum">
              <a:rPr lang="it-IT" sz="900">
                <a:solidFill>
                  <a:schemeClr val="tx2"/>
                </a:solidFill>
              </a:rPr>
              <a:pPr/>
              <a:t>1</a:t>
            </a:fld>
            <a:endParaRPr lang="it-IT" sz="900" dirty="0">
              <a:solidFill>
                <a:schemeClr val="tx2"/>
              </a:solidFill>
            </a:endParaRPr>
          </a:p>
        </p:txBody>
      </p:sp>
      <p:sp>
        <p:nvSpPr>
          <p:cNvPr id="11" name="Title 8"/>
          <p:cNvSpPr txBox="1">
            <a:spLocks/>
          </p:cNvSpPr>
          <p:nvPr/>
        </p:nvSpPr>
        <p:spPr>
          <a:xfrm>
            <a:off x="1830726" y="1001121"/>
            <a:ext cx="8345916" cy="533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lang="it-IT" sz="2000" b="0" i="0" kern="1200" baseline="0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n-GB"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15E92C-C321-1356-8AE2-50AECAA3AD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HK" b="1" dirty="0">
                <a:solidFill>
                  <a:srgbClr val="C00000"/>
                </a:solidFill>
              </a:rPr>
              <a:t>Training Program 2026 - FNA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FBBCF-93B5-3CC7-BD06-388DA061D2E1}"/>
              </a:ext>
            </a:extLst>
          </p:cNvPr>
          <p:cNvSpPr txBox="1"/>
          <p:nvPr/>
        </p:nvSpPr>
        <p:spPr>
          <a:xfrm>
            <a:off x="546685" y="2751481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2026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86898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D732F-50D1-DFE6-4332-8A08AF47B4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0"/>
          <a:stretch/>
        </p:blipFill>
        <p:spPr>
          <a:xfrm>
            <a:off x="1720500" y="1386996"/>
            <a:ext cx="8268890" cy="4977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D64DE8-61E5-003C-9573-263C47A6C919}"/>
              </a:ext>
            </a:extLst>
          </p:cNvPr>
          <p:cNvSpPr txBox="1"/>
          <p:nvPr/>
        </p:nvSpPr>
        <p:spPr>
          <a:xfrm>
            <a:off x="422695" y="769384"/>
            <a:ext cx="70722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Refer to GL30:</a:t>
            </a:r>
          </a:p>
          <a:p>
            <a:r>
              <a:rPr lang="en-HK" dirty="0"/>
              <a:t>(https://www.ia.org.hk/en/legislative_framework/files/GL30_English.pdf)</a:t>
            </a:r>
          </a:p>
        </p:txBody>
      </p:sp>
    </p:spTree>
    <p:extLst>
      <p:ext uri="{BB962C8B-B14F-4D97-AF65-F5344CB8AC3E}">
        <p14:creationId xmlns:p14="http://schemas.microsoft.com/office/powerpoint/2010/main" val="678428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DBC48-EB52-FA58-142F-62777732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756" y="1000404"/>
            <a:ext cx="9402487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0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of solicitation of non-ILAS Policies*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FF9D42-C2E7-1AF2-99EC-65D8ADB755A5}"/>
              </a:ext>
            </a:extLst>
          </p:cNvPr>
          <p:cNvSpPr txBox="1"/>
          <p:nvPr/>
        </p:nvSpPr>
        <p:spPr>
          <a:xfrm>
            <a:off x="855253" y="5438328"/>
            <a:ext cx="667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*Non-ILAS product means Non-Investment-Linked Assurance Scheme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4909F9-3CCE-082E-6701-9AC649AEF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45" y="2359026"/>
            <a:ext cx="10535130" cy="213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40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Suitability Assessment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44253-DDC4-B1B3-8CDA-6ED788468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72" y="905140"/>
            <a:ext cx="4391638" cy="5553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C241D1-7494-7991-2E54-3D02E4F4F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827" y="905140"/>
            <a:ext cx="6815735" cy="12605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961D83-3760-38D4-19C0-CD1FF9FA01DD}"/>
              </a:ext>
            </a:extLst>
          </p:cNvPr>
          <p:cNvSpPr txBox="1"/>
          <p:nvPr/>
        </p:nvSpPr>
        <p:spPr>
          <a:xfrm>
            <a:off x="4870827" y="5778591"/>
            <a:ext cx="5904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Product Mapping Table:</a:t>
            </a:r>
          </a:p>
          <a:p>
            <a:r>
              <a:rPr lang="en-US" dirty="0"/>
              <a:t>G:\Retail\Common Folder (with OPS)\Product Mapping Table</a:t>
            </a:r>
            <a:endParaRPr lang="en-H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F6CC65-65BD-D999-B08C-9BEA6C12C9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6" t="1306"/>
          <a:stretch>
            <a:fillRect/>
          </a:stretch>
        </p:blipFill>
        <p:spPr>
          <a:xfrm>
            <a:off x="4870827" y="2165684"/>
            <a:ext cx="6815735" cy="348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05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5E730BF9-BE6E-F3EE-5B17-9CF90F26B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264" y="1534497"/>
            <a:ext cx="4161471" cy="87470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Suitability Assessment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A8CBB-A6B9-9F61-A2CB-61129F444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72" y="1212784"/>
            <a:ext cx="6018700" cy="4740442"/>
          </a:xfrm>
          <a:prstGeom prst="rect">
            <a:avLst/>
          </a:prstGeom>
        </p:spPr>
      </p:pic>
      <p:sp>
        <p:nvSpPr>
          <p:cNvPr id="6" name="Callout: Right Arrow 5">
            <a:extLst>
              <a:ext uri="{FF2B5EF4-FFF2-40B4-BE49-F238E27FC236}">
                <a16:creationId xmlns:a16="http://schemas.microsoft.com/office/drawing/2014/main" id="{9E999D49-CA51-6901-E094-08FC358D64C1}"/>
              </a:ext>
            </a:extLst>
          </p:cNvPr>
          <p:cNvSpPr/>
          <p:nvPr/>
        </p:nvSpPr>
        <p:spPr>
          <a:xfrm>
            <a:off x="837498" y="3330041"/>
            <a:ext cx="3572577" cy="505928"/>
          </a:xfrm>
          <a:prstGeom prst="rightArrowCallout">
            <a:avLst>
              <a:gd name="adj1" fmla="val 25000"/>
              <a:gd name="adj2" fmla="val 31391"/>
              <a:gd name="adj3" fmla="val 35226"/>
              <a:gd name="adj4" fmla="val 890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000" dirty="0"/>
              <a:t>This option is applicable to Saving or Annuity Plans (e.g. </a:t>
            </a:r>
            <a:r>
              <a:rPr lang="en-HK" sz="1000" dirty="0" err="1"/>
              <a:t>LionHarvest</a:t>
            </a:r>
            <a:r>
              <a:rPr lang="en-HK" sz="1000" dirty="0"/>
              <a:t> Prime, </a:t>
            </a:r>
            <a:r>
              <a:rPr lang="en-HK" sz="1000" dirty="0" err="1"/>
              <a:t>LionTycoon</a:t>
            </a:r>
            <a:r>
              <a:rPr lang="en-HK" sz="1000" dirty="0"/>
              <a:t> Beyond 2, </a:t>
            </a:r>
            <a:r>
              <a:rPr lang="en-HK" sz="1000" dirty="0" err="1"/>
              <a:t>LionAchiever</a:t>
            </a:r>
            <a:r>
              <a:rPr lang="en-HK" sz="1000" dirty="0"/>
              <a:t> Elite, Promise Pro, </a:t>
            </a:r>
            <a:r>
              <a:rPr lang="en-HK" sz="1000" dirty="0" err="1"/>
              <a:t>LionPrima</a:t>
            </a:r>
            <a:r>
              <a:rPr lang="en-HK" sz="1000" dirty="0"/>
              <a:t>, Emerald &amp; Pearl)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A6776C-9BEE-A0E5-214E-C9BE3E8CFC51}"/>
              </a:ext>
            </a:extLst>
          </p:cNvPr>
          <p:cNvSpPr/>
          <p:nvPr/>
        </p:nvSpPr>
        <p:spPr>
          <a:xfrm>
            <a:off x="6763109" y="279892"/>
            <a:ext cx="4761781" cy="12606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HK" sz="1400" dirty="0"/>
              <a:t>Additional level of Life or Critical Illness protection needs:</a:t>
            </a:r>
          </a:p>
          <a:p>
            <a:endParaRPr lang="en-HK" sz="1400" dirty="0"/>
          </a:p>
          <a:p>
            <a:r>
              <a:rPr lang="en-US" sz="1400" dirty="0"/>
              <a:t>The sum assured applying for Life/CI Product must be within the range of 50% - 120% of the client’s answer here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6017B2-4440-EFAB-2579-2C81B5908EB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6175074" y="910223"/>
            <a:ext cx="588035" cy="1331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9F7326-11DF-27DD-D5C0-6F633BAE2FB9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6096000" y="910223"/>
            <a:ext cx="667109" cy="3032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184758E-0EAD-DB48-DA63-0A7FC0823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109" y="2467951"/>
            <a:ext cx="4480677" cy="11291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EBE5039-B785-5BC3-CD7D-5F6A082E5610}"/>
              </a:ext>
            </a:extLst>
          </p:cNvPr>
          <p:cNvSpPr txBox="1"/>
          <p:nvPr/>
        </p:nvSpPr>
        <p:spPr>
          <a:xfrm>
            <a:off x="6754482" y="3548500"/>
            <a:ext cx="48387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>
                <a:highlight>
                  <a:srgbClr val="FFFF00"/>
                </a:highlight>
              </a:rPr>
              <a:t>Example:</a:t>
            </a:r>
          </a:p>
          <a:p>
            <a:r>
              <a:rPr lang="en-HK" dirty="0"/>
              <a:t>USD 1,000,000 x 8 = HKD 8,000,000</a:t>
            </a:r>
          </a:p>
          <a:p>
            <a:endParaRPr lang="en-HK" dirty="0"/>
          </a:p>
          <a:p>
            <a:r>
              <a:rPr lang="en-HK" dirty="0"/>
              <a:t>Option 1: HKD 8,000,000 / 50% = HKD 16,000,000</a:t>
            </a:r>
          </a:p>
          <a:p>
            <a:r>
              <a:rPr lang="en-HK" dirty="0"/>
              <a:t>Option 2: HKD 8,000,000 / 120% = HKD 6,666,666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739FDEA-BF01-30A7-2B48-C6B17B4249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3109" y="5022821"/>
            <a:ext cx="2262447" cy="147772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857D04F-73EA-18C6-1D65-03E5FFBCF3D0}"/>
              </a:ext>
            </a:extLst>
          </p:cNvPr>
          <p:cNvSpPr txBox="1"/>
          <p:nvPr/>
        </p:nvSpPr>
        <p:spPr>
          <a:xfrm>
            <a:off x="6809111" y="6180220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360F6F-EA81-97A9-4BE3-FA84DB14C4E6}"/>
              </a:ext>
            </a:extLst>
          </p:cNvPr>
          <p:cNvSpPr txBox="1"/>
          <p:nvPr/>
        </p:nvSpPr>
        <p:spPr>
          <a:xfrm>
            <a:off x="6811990" y="6003668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69883D66-B698-5215-550C-31FCCFD9ADC5}"/>
              </a:ext>
            </a:extLst>
          </p:cNvPr>
          <p:cNvSpPr/>
          <p:nvPr/>
        </p:nvSpPr>
        <p:spPr>
          <a:xfrm>
            <a:off x="5822830" y="6186138"/>
            <a:ext cx="986281" cy="2760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100" dirty="0"/>
              <a:t>Either one</a:t>
            </a:r>
          </a:p>
        </p:txBody>
      </p:sp>
      <p:sp>
        <p:nvSpPr>
          <p:cNvPr id="7" name="Callout: Right Arrow 6">
            <a:extLst>
              <a:ext uri="{FF2B5EF4-FFF2-40B4-BE49-F238E27FC236}">
                <a16:creationId xmlns:a16="http://schemas.microsoft.com/office/drawing/2014/main" id="{5B57AF9C-0535-24AF-72AD-2DEB0677EFCB}"/>
              </a:ext>
            </a:extLst>
          </p:cNvPr>
          <p:cNvSpPr/>
          <p:nvPr/>
        </p:nvSpPr>
        <p:spPr>
          <a:xfrm>
            <a:off x="837497" y="2591201"/>
            <a:ext cx="3572577" cy="505928"/>
          </a:xfrm>
          <a:prstGeom prst="rightArrowCallout">
            <a:avLst>
              <a:gd name="adj1" fmla="val 25000"/>
              <a:gd name="adj2" fmla="val 31391"/>
              <a:gd name="adj3" fmla="val 35226"/>
              <a:gd name="adj4" fmla="val 89002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000" dirty="0"/>
              <a:t>For Lion Patron, need Sum Assured x 2.3 for this answer</a:t>
            </a:r>
          </a:p>
        </p:txBody>
      </p:sp>
    </p:spTree>
    <p:extLst>
      <p:ext uri="{BB962C8B-B14F-4D97-AF65-F5344CB8AC3E}">
        <p14:creationId xmlns:p14="http://schemas.microsoft.com/office/powerpoint/2010/main" val="324224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Suitability Assessment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A752A-5551-6C89-F11B-F60A2345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7" y="856647"/>
            <a:ext cx="6468997" cy="56306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3885A4-C9FE-5D93-F1E3-7D581596DBD4}"/>
              </a:ext>
            </a:extLst>
          </p:cNvPr>
          <p:cNvSpPr/>
          <p:nvPr/>
        </p:nvSpPr>
        <p:spPr>
          <a:xfrm>
            <a:off x="4460108" y="2965602"/>
            <a:ext cx="1457611" cy="536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400" dirty="0"/>
              <a:t>For ILAS product only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F27C21-3EA9-83B1-69EF-1639D61FDB81}"/>
              </a:ext>
            </a:extLst>
          </p:cNvPr>
          <p:cNvCxnSpPr/>
          <p:nvPr/>
        </p:nvCxnSpPr>
        <p:spPr>
          <a:xfrm flipH="1" flipV="1">
            <a:off x="802255" y="2484408"/>
            <a:ext cx="3631721" cy="73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757B830-0986-5012-12BD-60E354AA1814}"/>
              </a:ext>
            </a:extLst>
          </p:cNvPr>
          <p:cNvSpPr/>
          <p:nvPr/>
        </p:nvSpPr>
        <p:spPr>
          <a:xfrm>
            <a:off x="2286000" y="4813091"/>
            <a:ext cx="3856008" cy="7332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200" dirty="0"/>
              <a:t>This option is applicable to Saving or Annuity Plans (e.g. </a:t>
            </a:r>
            <a:r>
              <a:rPr lang="en-HK" sz="1200" dirty="0" err="1"/>
              <a:t>LionHarvest</a:t>
            </a:r>
            <a:r>
              <a:rPr lang="en-HK" sz="1200" dirty="0"/>
              <a:t> Prime, </a:t>
            </a:r>
            <a:r>
              <a:rPr lang="en-HK" sz="1200" dirty="0" err="1"/>
              <a:t>LionTycoon</a:t>
            </a:r>
            <a:r>
              <a:rPr lang="en-HK" sz="1200" dirty="0"/>
              <a:t> Beyond 2, </a:t>
            </a:r>
            <a:r>
              <a:rPr lang="en-HK" sz="1200" dirty="0" err="1"/>
              <a:t>LionAchiever</a:t>
            </a:r>
            <a:r>
              <a:rPr lang="en-HK" sz="1200" dirty="0"/>
              <a:t> Elite, Promise Pro, </a:t>
            </a:r>
            <a:r>
              <a:rPr lang="en-HK" sz="1200" dirty="0" err="1"/>
              <a:t>LionPrima</a:t>
            </a:r>
            <a:r>
              <a:rPr lang="en-HK" sz="1200" dirty="0"/>
              <a:t>, Emerald &amp; Pearl)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7EC1A0-16D6-5ADD-11AA-4C6A3CAFE111}"/>
              </a:ext>
            </a:extLst>
          </p:cNvPr>
          <p:cNvCxnSpPr>
            <a:stCxn id="14" idx="2"/>
          </p:cNvCxnSpPr>
          <p:nvPr/>
        </p:nvCxnSpPr>
        <p:spPr>
          <a:xfrm flipH="1">
            <a:off x="802255" y="5546336"/>
            <a:ext cx="3411749" cy="628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0C33A08-5C99-AD23-36C2-4504E24C057E}"/>
              </a:ext>
            </a:extLst>
          </p:cNvPr>
          <p:cNvSpPr/>
          <p:nvPr/>
        </p:nvSpPr>
        <p:spPr>
          <a:xfrm>
            <a:off x="4460107" y="3747011"/>
            <a:ext cx="1457611" cy="536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400" dirty="0"/>
              <a:t>Not applicable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9E7088-329D-E82F-F384-ED54EF2A997D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802255" y="3571336"/>
            <a:ext cx="3657852" cy="44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CC1FC329-8923-22E5-D97B-8B6373A78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582" y="2720921"/>
            <a:ext cx="5842418" cy="71576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249224-52EF-10BF-0A93-EBE60987356E}"/>
              </a:ext>
            </a:extLst>
          </p:cNvPr>
          <p:cNvCxnSpPr>
            <a:stCxn id="23" idx="0"/>
          </p:cNvCxnSpPr>
          <p:nvPr/>
        </p:nvCxnSpPr>
        <p:spPr>
          <a:xfrm flipH="1" flipV="1">
            <a:off x="6142008" y="1699404"/>
            <a:ext cx="3128783" cy="1021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89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Suitability Assessment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A752A-5551-6C89-F11B-F60A2345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7" y="856647"/>
            <a:ext cx="6468997" cy="563066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A22243A-0EEF-E461-06AE-A94F3950A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753" y="181154"/>
            <a:ext cx="5563438" cy="285602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ADF73D-FE5A-E3A8-5F34-8E2D3FE7B49D}"/>
              </a:ext>
            </a:extLst>
          </p:cNvPr>
          <p:cNvCxnSpPr/>
          <p:nvPr/>
        </p:nvCxnSpPr>
        <p:spPr>
          <a:xfrm flipH="1">
            <a:off x="6003985" y="1570008"/>
            <a:ext cx="552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716BAC-A358-DDB3-4A0A-8D9FD8F78122}"/>
              </a:ext>
            </a:extLst>
          </p:cNvPr>
          <p:cNvCxnSpPr>
            <a:stCxn id="21" idx="1"/>
          </p:cNvCxnSpPr>
          <p:nvPr/>
        </p:nvCxnSpPr>
        <p:spPr>
          <a:xfrm flipH="1">
            <a:off x="5503653" y="1609165"/>
            <a:ext cx="1060100" cy="1030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F9113B2-F300-F276-B85B-6116E814F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250" y="3103222"/>
            <a:ext cx="2339244" cy="22640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54EF1F-8811-9DC9-CA02-334D89191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472" y="3103221"/>
            <a:ext cx="2339244" cy="226400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B5A6D48-B9A2-9D42-F9EE-A6B9ADB710FB}"/>
              </a:ext>
            </a:extLst>
          </p:cNvPr>
          <p:cNvSpPr txBox="1"/>
          <p:nvPr/>
        </p:nvSpPr>
        <p:spPr>
          <a:xfrm>
            <a:off x="7280695" y="3735238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2,156,310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C6E0C9-4BA5-B58F-23EB-A639C1E892E0}"/>
              </a:ext>
            </a:extLst>
          </p:cNvPr>
          <p:cNvSpPr txBox="1"/>
          <p:nvPr/>
        </p:nvSpPr>
        <p:spPr>
          <a:xfrm>
            <a:off x="7166879" y="4880636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30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A4927F-5157-C109-D3B8-D999058167CC}"/>
              </a:ext>
            </a:extLst>
          </p:cNvPr>
          <p:cNvSpPr txBox="1"/>
          <p:nvPr/>
        </p:nvSpPr>
        <p:spPr>
          <a:xfrm>
            <a:off x="9865744" y="3756002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2,405,988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9E605E-20C6-95C2-C88B-39AF3F555380}"/>
              </a:ext>
            </a:extLst>
          </p:cNvPr>
          <p:cNvSpPr txBox="1"/>
          <p:nvPr/>
        </p:nvSpPr>
        <p:spPr>
          <a:xfrm>
            <a:off x="9674290" y="4880636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30</a:t>
            </a:r>
          </a:p>
        </p:txBody>
      </p:sp>
      <p:sp>
        <p:nvSpPr>
          <p:cNvPr id="27" name="Cloud 26">
            <a:extLst>
              <a:ext uri="{FF2B5EF4-FFF2-40B4-BE49-F238E27FC236}">
                <a16:creationId xmlns:a16="http://schemas.microsoft.com/office/drawing/2014/main" id="{94FFD285-6148-505B-199C-6A02042BB74E}"/>
              </a:ext>
            </a:extLst>
          </p:cNvPr>
          <p:cNvSpPr/>
          <p:nvPr/>
        </p:nvSpPr>
        <p:spPr>
          <a:xfrm>
            <a:off x="8151963" y="5433271"/>
            <a:ext cx="2156417" cy="134477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>
                <a:solidFill>
                  <a:srgbClr val="00B050"/>
                </a:solidFill>
              </a:rPr>
              <a:t>Pass</a:t>
            </a:r>
            <a:r>
              <a:rPr lang="en-HK" dirty="0"/>
              <a:t> </a:t>
            </a:r>
            <a:r>
              <a:rPr lang="en-HK" dirty="0">
                <a:solidFill>
                  <a:schemeClr val="tx1"/>
                </a:solidFill>
              </a:rPr>
              <a:t>or</a:t>
            </a:r>
            <a:r>
              <a:rPr lang="en-HK" dirty="0"/>
              <a:t> </a:t>
            </a:r>
            <a:r>
              <a:rPr lang="en-HK" dirty="0">
                <a:solidFill>
                  <a:srgbClr val="FF0000"/>
                </a:solidFill>
              </a:rPr>
              <a:t>Fail </a:t>
            </a:r>
            <a:r>
              <a:rPr lang="en-HK" dirty="0">
                <a:solidFill>
                  <a:schemeClr val="tx1"/>
                </a:solidFill>
              </a:rPr>
              <a:t>?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A615A7-2AEB-06EF-7420-677E123BFB03}"/>
              </a:ext>
            </a:extLst>
          </p:cNvPr>
          <p:cNvCxnSpPr>
            <a:stCxn id="27" idx="3"/>
          </p:cNvCxnSpPr>
          <p:nvPr/>
        </p:nvCxnSpPr>
        <p:spPr>
          <a:xfrm flipH="1" flipV="1">
            <a:off x="8399912" y="4125334"/>
            <a:ext cx="830260" cy="1384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C7FE275-C68D-8476-2F3C-2C66DE9490E7}"/>
              </a:ext>
            </a:extLst>
          </p:cNvPr>
          <p:cNvCxnSpPr>
            <a:stCxn id="27" idx="3"/>
          </p:cNvCxnSpPr>
          <p:nvPr/>
        </p:nvCxnSpPr>
        <p:spPr>
          <a:xfrm flipV="1">
            <a:off x="9230172" y="4104570"/>
            <a:ext cx="836854" cy="1405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8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Suitability Assessment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D2725E-FB83-77D4-9C13-58A20D841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65" y="769384"/>
            <a:ext cx="7125255" cy="366131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BA81CC2-3BE3-FB19-64EB-91204540FBBD}"/>
              </a:ext>
            </a:extLst>
          </p:cNvPr>
          <p:cNvSpPr/>
          <p:nvPr/>
        </p:nvSpPr>
        <p:spPr>
          <a:xfrm>
            <a:off x="624877" y="4784467"/>
            <a:ext cx="4735843" cy="1052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ptos" panose="020B0004020202020204" pitchFamily="34" charset="0"/>
                <a:ea typeface="PMingLiU" panose="02020500000000000000" pitchFamily="18" charset="-120"/>
                <a:cs typeface="Aptos" panose="020B0004020202020204" pitchFamily="34" charset="0"/>
              </a:rPr>
              <a:t>Key points:</a:t>
            </a:r>
          </a:p>
          <a:p>
            <a:pPr marL="342900" indent="-342900">
              <a:buAutoNum type="arabicPeriod"/>
            </a:pPr>
            <a:r>
              <a:rPr lang="en-US" dirty="0">
                <a:latin typeface="Aptos" panose="020B0004020202020204" pitchFamily="34" charset="0"/>
                <a:ea typeface="PMingLiU" panose="02020500000000000000" pitchFamily="18" charset="-120"/>
                <a:cs typeface="Aptos" panose="020B0004020202020204" pitchFamily="34" charset="0"/>
              </a:rPr>
              <a:t>Financial Knowledge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Aptos" panose="020B0004020202020204" pitchFamily="34" charset="0"/>
                <a:ea typeface="PMingLiU" panose="02020500000000000000" pitchFamily="18" charset="-120"/>
                <a:cs typeface="Aptos" panose="020B0004020202020204" pitchFamily="34" charset="0"/>
              </a:rPr>
              <a:t>AND</a:t>
            </a:r>
            <a:r>
              <a:rPr lang="en-US" dirty="0">
                <a:latin typeface="Aptos" panose="020B0004020202020204" pitchFamily="34" charset="0"/>
                <a:ea typeface="PMingLiU" panose="02020500000000000000" pitchFamily="18" charset="-120"/>
                <a:cs typeface="Aptos" panose="020B0004020202020204" pitchFamily="34" charset="0"/>
              </a:rPr>
              <a:t> Experience</a:t>
            </a:r>
          </a:p>
          <a:p>
            <a:pPr marL="342900" indent="-342900">
              <a:buAutoNum type="arabicPeriod"/>
            </a:pPr>
            <a:r>
              <a:rPr lang="en-US" dirty="0"/>
              <a:t>Target Asset Allocation on non-fixed income</a:t>
            </a:r>
            <a:endParaRPr lang="en-HK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73635F-332B-C74A-2334-7F6A182A8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390" y="4714335"/>
            <a:ext cx="5878238" cy="119268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E42773-8912-FB45-1C0A-C3642AFAAC5A}"/>
              </a:ext>
            </a:extLst>
          </p:cNvPr>
          <p:cNvCxnSpPr/>
          <p:nvPr/>
        </p:nvCxnSpPr>
        <p:spPr>
          <a:xfrm>
            <a:off x="5179564" y="5623384"/>
            <a:ext cx="720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474BC6B-CA6D-C2C0-83FF-621CC619808B}"/>
              </a:ext>
            </a:extLst>
          </p:cNvPr>
          <p:cNvSpPr/>
          <p:nvPr/>
        </p:nvSpPr>
        <p:spPr>
          <a:xfrm>
            <a:off x="7781613" y="769383"/>
            <a:ext cx="4040670" cy="38371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HK" dirty="0"/>
              <a:t>Special Handling for specific brokers:</a:t>
            </a:r>
          </a:p>
          <a:p>
            <a:r>
              <a:rPr lang="en-HK" dirty="0"/>
              <a:t>1.CITIC</a:t>
            </a:r>
            <a:br>
              <a:rPr lang="en-HK" dirty="0"/>
            </a:br>
            <a:r>
              <a:rPr lang="en-HK" dirty="0"/>
              <a:t>2. Fubon^</a:t>
            </a:r>
            <a:br>
              <a:rPr lang="en-HK" dirty="0"/>
            </a:br>
            <a:r>
              <a:rPr lang="en-HK" dirty="0"/>
              <a:t>3. CMB*</a:t>
            </a:r>
            <a:br>
              <a:rPr lang="en-HK" dirty="0"/>
            </a:br>
            <a:r>
              <a:rPr lang="en-HK" dirty="0"/>
              <a:t>4. OnePlatform</a:t>
            </a:r>
            <a:br>
              <a:rPr lang="en-HK" dirty="0"/>
            </a:br>
            <a:r>
              <a:rPr lang="en-HK" dirty="0"/>
              <a:t>5. AMG</a:t>
            </a:r>
          </a:p>
          <a:p>
            <a:endParaRPr lang="en-HK" dirty="0"/>
          </a:p>
          <a:p>
            <a:r>
              <a:rPr lang="en-HK" dirty="0"/>
              <a:t>* Supplementary Form is required for product mapping</a:t>
            </a:r>
          </a:p>
          <a:p>
            <a:r>
              <a:rPr lang="en-HK" dirty="0"/>
              <a:t>^ Fubon’s Supplementary Form will be provided for product mapping until Aug 2026</a:t>
            </a: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52309F6F-EC36-F5C5-C20A-1EDC28A7A1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00571"/>
              </p:ext>
            </p:extLst>
          </p:nvPr>
        </p:nvGraphicFramePr>
        <p:xfrm>
          <a:off x="10688716" y="165356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400" imgH="771525" progId="Excel.Sheet.12">
                  <p:link updateAutomatic="1"/>
                </p:oleObj>
              </mc:Choice>
              <mc:Fallback>
                <p:oleObj name="Worksheet" showAsIcon="1" r:id="rId5" imgW="914400" imgH="7715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88716" y="165356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737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8F019-E3C1-B2BA-77C3-D7513B96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3573D-E2F0-D31E-DBAE-C1618A4DD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Suitability Assessment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D1B3E-A8EE-A4B2-8A35-7791FA0D75E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0B6668-3A63-B093-3488-AEEDDEC90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72" y="769384"/>
            <a:ext cx="10713006" cy="1981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AF2D13-FC61-15DA-7310-66CFBBBC7E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r="60702" b="38208"/>
          <a:stretch/>
        </p:blipFill>
        <p:spPr>
          <a:xfrm>
            <a:off x="3044635" y="2765469"/>
            <a:ext cx="5278080" cy="382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51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1B8CFC-9586-D36B-7E01-BFA9A66BEC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338"/>
          <a:stretch/>
        </p:blipFill>
        <p:spPr>
          <a:xfrm>
            <a:off x="1026887" y="745420"/>
            <a:ext cx="4435329" cy="1467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68AE34-BC31-6FB8-D0CF-6B1EB621A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86" y="2304671"/>
            <a:ext cx="4435329" cy="12839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6F6C12-1CC1-E30E-539E-71A8A3C99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87" y="3680779"/>
            <a:ext cx="4435329" cy="28065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026572-B94B-EF55-124E-349668CEF1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127" y="745420"/>
            <a:ext cx="3885126" cy="2558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65BAF5-2AA0-7E4E-D88B-B1DACE44D0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5452" y="3343459"/>
            <a:ext cx="3860801" cy="316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7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 (Income Approach)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F533D0-014F-EEF4-7ADB-9E52A1EFF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304" y="1565969"/>
            <a:ext cx="6230142" cy="34991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3CF752-3CEA-9EF0-D8CD-2BE75FC545D5}"/>
              </a:ext>
            </a:extLst>
          </p:cNvPr>
          <p:cNvSpPr/>
          <p:nvPr/>
        </p:nvSpPr>
        <p:spPr>
          <a:xfrm>
            <a:off x="5592304" y="3179361"/>
            <a:ext cx="840758" cy="272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400" dirty="0"/>
              <a:t>Applying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BAB89E-70C7-0889-E5F5-769388FE4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72" y="5067154"/>
            <a:ext cx="10469110" cy="1330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4EF56B-411A-19E9-8562-531EDDA8E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671" y="668118"/>
            <a:ext cx="5461497" cy="11227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DDDD3A-C56F-2D9E-32AB-3E7427E6752F}"/>
              </a:ext>
            </a:extLst>
          </p:cNvPr>
          <p:cNvSpPr txBox="1"/>
          <p:nvPr/>
        </p:nvSpPr>
        <p:spPr>
          <a:xfrm>
            <a:off x="683168" y="798344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1604CB-EC05-E8B6-E47F-4218B60FBB33}"/>
              </a:ext>
            </a:extLst>
          </p:cNvPr>
          <p:cNvSpPr txBox="1"/>
          <p:nvPr/>
        </p:nvSpPr>
        <p:spPr>
          <a:xfrm>
            <a:off x="1812424" y="798344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919DA-4748-0CD3-22B5-7647C951682D}"/>
              </a:ext>
            </a:extLst>
          </p:cNvPr>
          <p:cNvSpPr txBox="1"/>
          <p:nvPr/>
        </p:nvSpPr>
        <p:spPr>
          <a:xfrm>
            <a:off x="2483109" y="949613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5A431-725C-33DE-1986-AA495E164E26}"/>
              </a:ext>
            </a:extLst>
          </p:cNvPr>
          <p:cNvSpPr txBox="1"/>
          <p:nvPr/>
        </p:nvSpPr>
        <p:spPr>
          <a:xfrm>
            <a:off x="683168" y="948315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C7457-EAE8-5343-3158-877E7F1793A6}"/>
              </a:ext>
            </a:extLst>
          </p:cNvPr>
          <p:cNvSpPr txBox="1"/>
          <p:nvPr/>
        </p:nvSpPr>
        <p:spPr>
          <a:xfrm>
            <a:off x="683168" y="1084995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A711C49-72C8-D2CC-448E-AA05073141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554" y="1852619"/>
            <a:ext cx="4731716" cy="299287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E4F97F3-DCAC-EB8D-8CBF-4BB62B94D0E2}"/>
              </a:ext>
            </a:extLst>
          </p:cNvPr>
          <p:cNvSpPr/>
          <p:nvPr/>
        </p:nvSpPr>
        <p:spPr>
          <a:xfrm>
            <a:off x="3795622" y="3759131"/>
            <a:ext cx="1147314" cy="5003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64E29C-5370-482D-A672-FC9B71BA20F1}"/>
              </a:ext>
            </a:extLst>
          </p:cNvPr>
          <p:cNvSpPr/>
          <p:nvPr/>
        </p:nvSpPr>
        <p:spPr>
          <a:xfrm>
            <a:off x="1724234" y="4471659"/>
            <a:ext cx="898196" cy="4356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1781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 (Assets Approach)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6A0E1C-CBF1-0A26-BDF6-7F9FEDFC0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304" y="1169156"/>
            <a:ext cx="6525902" cy="35050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857F89-1BBB-B7FA-6271-E0D108924135}"/>
              </a:ext>
            </a:extLst>
          </p:cNvPr>
          <p:cNvSpPr/>
          <p:nvPr/>
        </p:nvSpPr>
        <p:spPr>
          <a:xfrm>
            <a:off x="5544177" y="2737344"/>
            <a:ext cx="840758" cy="272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400" dirty="0"/>
              <a:t>Applying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B06908-B37F-578B-C474-C9F12FACDE9E}"/>
              </a:ext>
            </a:extLst>
          </p:cNvPr>
          <p:cNvSpPr txBox="1"/>
          <p:nvPr/>
        </p:nvSpPr>
        <p:spPr>
          <a:xfrm>
            <a:off x="5911310" y="3848244"/>
            <a:ext cx="315150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HK" sz="1600" dirty="0">
                <a:solidFill>
                  <a:srgbClr val="0000FF"/>
                </a:solidFill>
              </a:rPr>
              <a:t>HK$1,000,000 x 50% = HK$ 500,000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68EB58-BEB4-157B-F02D-5401E1CDD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974" y="5842678"/>
            <a:ext cx="2391109" cy="6573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93DC01-FBB8-B89F-1B1F-F4603EF35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542" y="4938636"/>
            <a:ext cx="6229425" cy="81103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635A66-6915-EAF3-4FD4-95F70DD96590}"/>
              </a:ext>
            </a:extLst>
          </p:cNvPr>
          <p:cNvCxnSpPr>
            <a:stCxn id="14" idx="0"/>
          </p:cNvCxnSpPr>
          <p:nvPr/>
        </p:nvCxnSpPr>
        <p:spPr>
          <a:xfrm flipV="1">
            <a:off x="9682529" y="5547077"/>
            <a:ext cx="1014226" cy="295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29D63D6-18D7-9BA0-3A83-E7F8EB4C16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45" y="1169156"/>
            <a:ext cx="5461497" cy="11227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89AEF7-561A-B49F-C6E2-75E048493162}"/>
              </a:ext>
            </a:extLst>
          </p:cNvPr>
          <p:cNvSpPr txBox="1"/>
          <p:nvPr/>
        </p:nvSpPr>
        <p:spPr>
          <a:xfrm>
            <a:off x="1724723" y="1449353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A94860-24F8-FBBC-E441-B0BE6C2E895A}"/>
              </a:ext>
            </a:extLst>
          </p:cNvPr>
          <p:cNvSpPr txBox="1"/>
          <p:nvPr/>
        </p:nvSpPr>
        <p:spPr>
          <a:xfrm>
            <a:off x="610963" y="1645352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BD68EA-6BEF-E20E-2B22-A4775E5B00CE}"/>
              </a:ext>
            </a:extLst>
          </p:cNvPr>
          <p:cNvSpPr txBox="1"/>
          <p:nvPr/>
        </p:nvSpPr>
        <p:spPr>
          <a:xfrm>
            <a:off x="610963" y="1833645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4EFFE3-57CF-6CD2-19F1-FBADDF7C83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045" y="2391271"/>
            <a:ext cx="5254097" cy="282137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622EC63-8090-3CEA-6C1E-9DA31F89EA5C}"/>
              </a:ext>
            </a:extLst>
          </p:cNvPr>
          <p:cNvSpPr/>
          <p:nvPr/>
        </p:nvSpPr>
        <p:spPr>
          <a:xfrm>
            <a:off x="4297170" y="4281723"/>
            <a:ext cx="1147314" cy="5003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3F9535-B3B6-F9FA-7D93-0B5E77CD0D0C}"/>
              </a:ext>
            </a:extLst>
          </p:cNvPr>
          <p:cNvSpPr/>
          <p:nvPr/>
        </p:nvSpPr>
        <p:spPr>
          <a:xfrm>
            <a:off x="3530837" y="4920742"/>
            <a:ext cx="799623" cy="4234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7638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6FA63-40DB-E3CC-49DC-F1F6F963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72" y="872235"/>
            <a:ext cx="5167174" cy="1703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10074A-C6C3-CEEF-7194-009BFBF4A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53" y="2678158"/>
            <a:ext cx="3892946" cy="38091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7A5F13-B1F5-632F-D78F-00B2D87DD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121" y="142400"/>
            <a:ext cx="4867954" cy="316274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215407-951B-DD80-C9FD-577886165423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2613804" y="1613140"/>
            <a:ext cx="3170317" cy="110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4DCCC79-E120-E25B-DED7-178BB85B249C}"/>
              </a:ext>
            </a:extLst>
          </p:cNvPr>
          <p:cNvSpPr/>
          <p:nvPr/>
        </p:nvSpPr>
        <p:spPr>
          <a:xfrm>
            <a:off x="6068724" y="3628989"/>
            <a:ext cx="3763034" cy="50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Consider use combine approach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52D908-BBBB-25E9-4C44-161FB59B95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9352" y="4282694"/>
            <a:ext cx="5461497" cy="11227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17487B0-D928-BE96-ECCE-16AD6B702EA6}"/>
              </a:ext>
            </a:extLst>
          </p:cNvPr>
          <p:cNvSpPr txBox="1"/>
          <p:nvPr/>
        </p:nvSpPr>
        <p:spPr>
          <a:xfrm>
            <a:off x="5701746" y="4682015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√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009552-7820-E7B1-7662-3585F4FDDB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5366" y="5578325"/>
            <a:ext cx="6325483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92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D449B6-DCA0-9348-7755-1F03BB2A5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041" y="784671"/>
            <a:ext cx="9497683" cy="11897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E590FE-E467-22F2-9514-ED9CE7ECF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4933"/>
            <a:ext cx="2419041" cy="36883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2BF19A-9937-092B-1C81-F965FBE5B6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1408" b="19205"/>
          <a:stretch>
            <a:fillRect/>
          </a:stretch>
        </p:blipFill>
        <p:spPr>
          <a:xfrm>
            <a:off x="33566" y="4603321"/>
            <a:ext cx="2419041" cy="19914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BFFA28-38C4-E4EE-C142-A0C3E51F4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6173" y="1974373"/>
            <a:ext cx="8176076" cy="28790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FC1F0C-8E5F-AF42-7327-83B9D37D85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0888" y="4932103"/>
            <a:ext cx="3821361" cy="12462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1CA99B-0F1E-3977-176A-FBBDAFD1ED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9454" y="5158801"/>
            <a:ext cx="346758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36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DC8BD5-C79F-BE11-4453-2F4683942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933"/>
            <a:ext cx="2419041" cy="36883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F47BE5-1471-7A9D-F974-6B7BBB3841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408" b="19205"/>
          <a:stretch>
            <a:fillRect/>
          </a:stretch>
        </p:blipFill>
        <p:spPr>
          <a:xfrm>
            <a:off x="33566" y="4603321"/>
            <a:ext cx="2419041" cy="1991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4B7AD5-8B7E-0FC3-AED8-92F9E06A6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041" y="769064"/>
            <a:ext cx="9772958" cy="11821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5A76F1-E6C7-9517-9345-955F16C974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6173" y="1951166"/>
            <a:ext cx="8246930" cy="29044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6B633A-94BE-B3E4-87E3-D953D76A3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7371" y="4855635"/>
            <a:ext cx="4325732" cy="15053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F28453-711B-7A3D-394E-41B37C9AE66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512"/>
          <a:stretch>
            <a:fillRect/>
          </a:stretch>
        </p:blipFill>
        <p:spPr>
          <a:xfrm>
            <a:off x="3161279" y="5198928"/>
            <a:ext cx="2623351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03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of Fund/Wealth Checking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2BF835-8831-85F5-E56D-330C16142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042" y="769384"/>
            <a:ext cx="8065916" cy="1398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04DB22-1B61-3B72-667F-37F493393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778" y="2309601"/>
            <a:ext cx="9548444" cy="39412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81B5BC0-17A6-5FDF-2523-569419FF00CC}"/>
                  </a:ext>
                </a:extLst>
              </p14:cNvPr>
              <p14:cNvContentPartPr/>
              <p14:nvPr/>
            </p14:nvContentPartPr>
            <p14:xfrm>
              <a:off x="7467405" y="5695455"/>
              <a:ext cx="3016440" cy="76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81B5BC0-17A6-5FDF-2523-569419FF00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3765" y="5587815"/>
                <a:ext cx="31240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35F6D0B-4B94-93BA-AA24-64ACB569F448}"/>
                  </a:ext>
                </a:extLst>
              </p14:cNvPr>
              <p14:cNvContentPartPr/>
              <p14:nvPr/>
            </p14:nvContentPartPr>
            <p14:xfrm>
              <a:off x="2085765" y="5937735"/>
              <a:ext cx="469800" cy="15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35F6D0B-4B94-93BA-AA24-64ACB569F4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32125" y="5829735"/>
                <a:ext cx="5774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0020E97-1303-CDA0-7895-268FD9B20EBF}"/>
                  </a:ext>
                </a:extLst>
              </p14:cNvPr>
              <p14:cNvContentPartPr/>
              <p14:nvPr/>
            </p14:nvContentPartPr>
            <p14:xfrm>
              <a:off x="9762765" y="5019375"/>
              <a:ext cx="77112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0020E97-1303-CDA0-7895-268FD9B20EB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09125" y="4911735"/>
                <a:ext cx="878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2556CB3-CF13-F252-A19D-FA5EA66F7D6E}"/>
                  </a:ext>
                </a:extLst>
              </p14:cNvPr>
              <p14:cNvContentPartPr/>
              <p14:nvPr/>
            </p14:nvContentPartPr>
            <p14:xfrm>
              <a:off x="2076045" y="5190735"/>
              <a:ext cx="4991400" cy="86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2556CB3-CF13-F252-A19D-FA5EA66F7D6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22045" y="5082735"/>
                <a:ext cx="5099040" cy="30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7959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70F9B-CD38-B9BA-5948-C6F437C0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95A142-DCD0-4C61-3F55-40007EB09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0685"/>
            <a:ext cx="9087311" cy="398699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of Fund/Wealth Checking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06985-5DCC-995F-9A4A-E7421819AE6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7E7984-7290-3126-24D9-A2765857CD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36"/>
          <a:stretch/>
        </p:blipFill>
        <p:spPr>
          <a:xfrm>
            <a:off x="327172" y="664202"/>
            <a:ext cx="4344006" cy="33334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A7A477-0238-B1D5-64E1-08027BA71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47" y="3882927"/>
            <a:ext cx="8687464" cy="27594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E2640F-56D5-C181-512D-1FB76B311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406" y="1111548"/>
            <a:ext cx="4648849" cy="2429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27839E-E623-A615-50A9-3341882E4D00}"/>
              </a:ext>
            </a:extLst>
          </p:cNvPr>
          <p:cNvSpPr/>
          <p:nvPr/>
        </p:nvSpPr>
        <p:spPr>
          <a:xfrm>
            <a:off x="5981701" y="3705225"/>
            <a:ext cx="5953124" cy="1362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Some broker’s FNAs are found to have </a:t>
            </a:r>
            <a:r>
              <a:rPr lang="en-US" dirty="0">
                <a:solidFill>
                  <a:srgbClr val="FF0000"/>
                </a:solidFill>
              </a:rPr>
              <a:t>NO SOW and/or SOF </a:t>
            </a:r>
            <a:r>
              <a:rPr lang="en-US" dirty="0">
                <a:solidFill>
                  <a:schemeClr val="tx1"/>
                </a:solidFill>
              </a:rPr>
              <a:t>information. </a:t>
            </a:r>
          </a:p>
          <a:p>
            <a:r>
              <a:rPr lang="en-US" dirty="0">
                <a:solidFill>
                  <a:schemeClr val="tx1"/>
                </a:solidFill>
              </a:rPr>
              <a:t>If that is the case, we will obtain Supplementary Form.</a:t>
            </a:r>
            <a:endParaRPr lang="en-H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999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08FA0-A584-42CB-AD0A-684735A1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236129"/>
            <a:ext cx="11165392" cy="667812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Insurance Intermediary’s Evaluation and Recommendation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C71B4-5E22-F272-7B44-EEF4639E4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5" y="1512297"/>
            <a:ext cx="5839893" cy="38334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4E1045-9888-7AE2-5650-14F4C4D01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94" y="767750"/>
            <a:ext cx="5362496" cy="533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37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AF530-5154-504E-6D9C-F71513101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5F2F12-4FB0-0524-FC19-E3C075BFC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7193"/>
            <a:ext cx="11165392" cy="385683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 for Premium Financing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B65C5-1600-4218-EF82-FEF97F33014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8F751-8FA7-BD2F-AAC6-1AE1A996C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13" y="1060891"/>
            <a:ext cx="10703373" cy="14688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FE32EF-3FF6-5673-D4AE-5467D07CD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14" y="2655040"/>
            <a:ext cx="5572903" cy="1409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4FB485-9DE1-09DE-0000-036E5435B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001" y="4313870"/>
            <a:ext cx="5709928" cy="143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23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B7213-F9A6-ED02-3AD8-AB8EFAB4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B0B1E1-341B-CBAF-8378-FBEA31CDB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7193"/>
            <a:ext cx="11165392" cy="385683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 for Premium Financing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D82BA7-957D-B7D8-A7C3-5D5CEA7E0AB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952F2-6E9A-412C-1836-9FB0C226D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72" y="830967"/>
            <a:ext cx="6015288" cy="3638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CFDFB9-EDD5-DB3A-EBFD-A1A6A6331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72" y="4750899"/>
            <a:ext cx="6280662" cy="137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80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EC36B-B4BA-6C63-2C33-116E9CB5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7FDF6B-6196-7324-9F17-A9A23A446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7193"/>
            <a:ext cx="11165392" cy="385683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 for Premium Financing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AD549-4637-7981-1515-B9D549371B1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F59AF3-B75B-8E70-9F2E-98539AD67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875" y="698819"/>
            <a:ext cx="8896708" cy="11590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7C42BF-92FD-E6B0-E602-F715C808C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72" y="742134"/>
            <a:ext cx="2130723" cy="10724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44AC24-3DC0-0677-292F-AC4A4BEE1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1" y="1857896"/>
            <a:ext cx="2220345" cy="7710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9956E7-34DC-C46A-3794-F7048653C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52" y="2653791"/>
            <a:ext cx="2220343" cy="7301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44DBFB-8B37-17F7-8C11-04CFEA2030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366509"/>
            <a:ext cx="2293097" cy="7525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8C8CE2-CE6B-E943-76DD-F453A8CDCE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119090"/>
            <a:ext cx="2293095" cy="7882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24532D-D678-393D-9515-4533EE2D09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51" y="4940210"/>
            <a:ext cx="2220343" cy="7367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7C188C-87B8-5022-1F23-46766D1A49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7893" y="1798061"/>
            <a:ext cx="6658833" cy="27049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6E745DF-5650-C450-BFB9-1E191A009B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8594" y="4532861"/>
            <a:ext cx="3478132" cy="114412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CAC56FC-3C3F-B05B-7368-690BD85FF8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1301" y="4830862"/>
            <a:ext cx="2569085" cy="70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05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A932-81D8-3C86-3549-AFBE3CAAC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CFA1D9-4AAB-D692-3BF5-7938C424F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7193"/>
            <a:ext cx="11165392" cy="385683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 for Premium Financing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18D32-CB89-F62B-0526-387F3EEFC4E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9869A-7114-ED99-96E2-E7E3518FF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875" y="698818"/>
            <a:ext cx="9222302" cy="12014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A12AB2-7D4A-12DD-FFCD-64F0F7867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72" y="742134"/>
            <a:ext cx="2130723" cy="10724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6018B8-8D4D-13D9-3F57-959339574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1" y="1857896"/>
            <a:ext cx="2220345" cy="7710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7A8056-3C94-468C-8305-548096EED8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52" y="2653791"/>
            <a:ext cx="2220343" cy="7301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8C553B-7E91-5C0E-BB24-4DFAB4FE8C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366509"/>
            <a:ext cx="2293097" cy="7525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07549E-126B-6890-EA39-E581A179A5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119090"/>
            <a:ext cx="2293095" cy="7882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FE856D-D3C5-4A3A-C701-91EAB63EF7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51" y="4940210"/>
            <a:ext cx="2220343" cy="7367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FC54D0-B4C7-B616-8689-0CDD2CFD18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7895" y="3016033"/>
            <a:ext cx="6658833" cy="2704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0696A1-43DC-B7BD-0102-FD8CD1684E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6875" y="1884530"/>
            <a:ext cx="5012613" cy="1131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2EC6F2-8A09-AEAE-E245-092718612E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2116" y="5802852"/>
            <a:ext cx="3294744" cy="9762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EE8D8E-0395-1611-010F-AE17E70A02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86860" y="3662805"/>
            <a:ext cx="3002520" cy="14113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FAC2F2-2239-3406-DAD7-5B82F69E5E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0184" y="5858142"/>
            <a:ext cx="5007127" cy="86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38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49A7C-C942-0632-C24C-4202FEA0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1BE5CE-37E2-EEF7-E15F-1BD7DC1BB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2" y="377193"/>
            <a:ext cx="11165392" cy="385683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Affordability Assessment for Premium Financing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50CBC-1F1B-3DB0-9ADD-57BFF98CB2CC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CB6E70-11AF-8317-1567-BC49138DB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72" y="742134"/>
            <a:ext cx="2130723" cy="10724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115BAC-A94B-03C3-AF79-9F1A9B486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1" y="1857896"/>
            <a:ext cx="2220345" cy="7710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B39493-9D2C-A781-45B8-306A594C6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2" y="2653791"/>
            <a:ext cx="2220343" cy="7301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8DB50D-64DA-7692-CF31-FB5007949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366509"/>
            <a:ext cx="2293097" cy="7525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09CB38-063C-8C39-A194-C22C9C604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119090"/>
            <a:ext cx="2293095" cy="7882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8D69CE-D26F-0B1B-448D-223DFA5780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51" y="4940210"/>
            <a:ext cx="2220343" cy="736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59484A-00B8-016E-214C-E3AD8F97DF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3419" y="691714"/>
            <a:ext cx="9578196" cy="11228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C9DAA0-132C-BB73-E8B3-604252E13C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53419" y="1814582"/>
            <a:ext cx="5046453" cy="11835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9941EA-BD9A-959B-9905-B47F5214FC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3419" y="3022816"/>
            <a:ext cx="6596488" cy="26541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EF7973-1755-597D-2660-DE2801C432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7887" y="5716426"/>
            <a:ext cx="2982020" cy="9615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964BF0F-A99D-2BB3-FAA4-2DE8BD705D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7390" y="3621392"/>
            <a:ext cx="3044610" cy="14570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1A99DBD-F9F4-F819-9604-C5F64F7E4F1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9547" y="5825105"/>
            <a:ext cx="5046453" cy="86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58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E4BA-D42F-371A-C259-13FAFB48170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For internal use only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6F0772-57B8-A92A-ADC2-6AAB6531E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C2C2E8-A5CD-E233-4DC6-890079420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812" y="1059737"/>
            <a:ext cx="9183382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5931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</TotalTime>
  <Words>639</Words>
  <Application>Microsoft Office PowerPoint</Application>
  <PresentationFormat>Widescreen</PresentationFormat>
  <Paragraphs>149</Paragraphs>
  <Slides>25</Slides>
  <Notes>25</Notes>
  <HiddenSlides>0</HiddenSlides>
  <MMClips>0</MMClips>
  <ScaleCrop>false</ScaleCrop>
  <HeadingPairs>
    <vt:vector size="10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Office Theme</vt:lpstr>
      <vt:lpstr>file:///C:\Users\keith.law\Documents\Keith%20Law\UW%20Department\Project\CS%20Training\May%202026%20CS%20Training\Material\Product%20mapping%20for%20broker's%20version%20FNA_May%202026%20(Added%20Premium%20Financing%20product).xlsx</vt:lpstr>
      <vt:lpstr>think-cell Slide</vt:lpstr>
      <vt:lpstr>Training Program 2026 - FNA</vt:lpstr>
      <vt:lpstr>Background</vt:lpstr>
      <vt:lpstr>Background</vt:lpstr>
      <vt:lpstr>Flow of solicitation of non-ILAS Policies*</vt:lpstr>
      <vt:lpstr>Suitability Assessment</vt:lpstr>
      <vt:lpstr>Suitability Assessment</vt:lpstr>
      <vt:lpstr>Suitability Assessment</vt:lpstr>
      <vt:lpstr>Suitability Assessment</vt:lpstr>
      <vt:lpstr>Suitability Assessment</vt:lpstr>
      <vt:lpstr>Suitability Assessment</vt:lpstr>
      <vt:lpstr>Affordability Assessment</vt:lpstr>
      <vt:lpstr>Affordability Assessment (Income Approach)</vt:lpstr>
      <vt:lpstr>Affordability Assessment (Assets Approach)</vt:lpstr>
      <vt:lpstr>Affordability Assessment</vt:lpstr>
      <vt:lpstr>Affordability Assessment</vt:lpstr>
      <vt:lpstr>Affordability Assessment</vt:lpstr>
      <vt:lpstr>Source of Fund/Wealth Checking</vt:lpstr>
      <vt:lpstr>Source of Fund/Wealth Checking</vt:lpstr>
      <vt:lpstr>Insurance Intermediary’s Evaluation and Recommendation</vt:lpstr>
      <vt:lpstr>Affordability Assessment for Premium Financing</vt:lpstr>
      <vt:lpstr>Affordability Assessment for Premium Financing</vt:lpstr>
      <vt:lpstr>Affordability Assessment for Premium Financing</vt:lpstr>
      <vt:lpstr>Affordability Assessment for Premium Financing</vt:lpstr>
      <vt:lpstr>Affordability Assessment for Premium Financing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Monica Wan</dc:creator>
  <cp:lastModifiedBy>Keith Law</cp:lastModifiedBy>
  <cp:revision>48</cp:revision>
  <dcterms:created xsi:type="dcterms:W3CDTF">2022-03-02T15:52:00Z</dcterms:created>
  <dcterms:modified xsi:type="dcterms:W3CDTF">2026-05-21T08:00:44Z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a41694-ae82-4886-97f6-f370dd53fce9_Enabled">
    <vt:lpwstr>true</vt:lpwstr>
  </property>
  <property fmtid="{D5CDD505-2E9C-101B-9397-08002B2CF9AE}" pid="3" name="MSIP_Label_a4a41694-ae82-4886-97f6-f370dd53fce9_SetDate">
    <vt:lpwstr>2022-03-02T15:52:22Z</vt:lpwstr>
  </property>
  <property fmtid="{D5CDD505-2E9C-101B-9397-08002B2CF9AE}" pid="4" name="MSIP_Label_a4a41694-ae82-4886-97f6-f370dd53fce9_Method">
    <vt:lpwstr>Privileged</vt:lpwstr>
  </property>
  <property fmtid="{D5CDD505-2E9C-101B-9397-08002B2CF9AE}" pid="5" name="MSIP_Label_a4a41694-ae82-4886-97f6-f370dd53fce9_Name">
    <vt:lpwstr>Internal</vt:lpwstr>
  </property>
  <property fmtid="{D5CDD505-2E9C-101B-9397-08002B2CF9AE}" pid="6" name="MSIP_Label_a4a41694-ae82-4886-97f6-f370dd53fce9_SiteId">
    <vt:lpwstr>7678b71c-8462-4bf3-b98a-7f04f5ed1d8d</vt:lpwstr>
  </property>
  <property fmtid="{D5CDD505-2E9C-101B-9397-08002B2CF9AE}" pid="7" name="MSIP_Label_a4a41694-ae82-4886-97f6-f370dd53fce9_ActionId">
    <vt:lpwstr>2619dd29-3580-4814-8fa3-557167a8d361</vt:lpwstr>
  </property>
  <property fmtid="{D5CDD505-2E9C-101B-9397-08002B2CF9AE}" pid="8" name="MSIP_Label_a4a41694-ae82-4886-97f6-f370dd53fce9_ContentBits">
    <vt:lpwstr>0</vt:lpwstr>
  </property>
</Properties>
</file>